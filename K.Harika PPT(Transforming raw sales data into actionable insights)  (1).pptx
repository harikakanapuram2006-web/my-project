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</p:sldIdLst>
  <p:sldSz cx="9144000" cy="5143500" type="screen16x9"/>
  <p:notesSz cx="5143500" cy="9144000"/>
  <p:custDataLst>
    <p:tags r:id="rId13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52B196-BFC6-4AC5-8D72-B9E505645D31}" v="7" dt="2026-04-19T03:07:31.0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7" y="72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sham sreelatha" userId="9642072e4b7d6035" providerId="LiveId" clId="{D78B3F39-262A-44FE-B7C7-EA8286EA2663}"/>
    <pc:docChg chg="custSel addSld delSld modSld">
      <pc:chgData name="pasham sreelatha" userId="9642072e4b7d6035" providerId="LiveId" clId="{D78B3F39-262A-44FE-B7C7-EA8286EA2663}" dt="2026-04-19T03:07:35.205" v="23" actId="2696"/>
      <pc:docMkLst>
        <pc:docMk/>
      </pc:docMkLst>
      <pc:sldChg chg="addSp delSp modSp add del mod">
        <pc:chgData name="pasham sreelatha" userId="9642072e4b7d6035" providerId="LiveId" clId="{D78B3F39-262A-44FE-B7C7-EA8286EA2663}" dt="2026-04-19T03:07:35.205" v="23" actId="2696"/>
        <pc:sldMkLst>
          <pc:docMk/>
          <pc:sldMk cId="1262068456" sldId="256"/>
        </pc:sldMkLst>
        <pc:picChg chg="add del">
          <ac:chgData name="pasham sreelatha" userId="9642072e4b7d6035" providerId="LiveId" clId="{D78B3F39-262A-44FE-B7C7-EA8286EA2663}" dt="2026-04-19T03:06:52.270" v="17" actId="21"/>
          <ac:picMkLst>
            <pc:docMk/>
            <pc:sldMk cId="1262068456" sldId="256"/>
            <ac:picMk id="8" creationId="{C4A8F69A-81E8-93A4-0FC8-A4986F65B8F6}"/>
          </ac:picMkLst>
        </pc:picChg>
        <pc:picChg chg="add del">
          <ac:chgData name="pasham sreelatha" userId="9642072e4b7d6035" providerId="LiveId" clId="{D78B3F39-262A-44FE-B7C7-EA8286EA2663}" dt="2026-04-19T03:07:01.881" v="19" actId="21"/>
          <ac:picMkLst>
            <pc:docMk/>
            <pc:sldMk cId="1262068456" sldId="256"/>
            <ac:picMk id="29" creationId="{D1A72074-EFD5-F749-673C-BD3B66AF33E9}"/>
          </ac:picMkLst>
        </pc:picChg>
        <pc:picChg chg="add del mod">
          <ac:chgData name="pasham sreelatha" userId="9642072e4b7d6035" providerId="LiveId" clId="{D78B3F39-262A-44FE-B7C7-EA8286EA2663}" dt="2026-04-19T03:07:10.655" v="21" actId="21"/>
          <ac:picMkLst>
            <pc:docMk/>
            <pc:sldMk cId="1262068456" sldId="256"/>
            <ac:picMk id="30" creationId="{D1A72074-EFD5-F749-673C-BD3B66AF33E9}"/>
          </ac:picMkLst>
        </pc:picChg>
      </pc:sldChg>
      <pc:sldChg chg="modSp add del mod">
        <pc:chgData name="pasham sreelatha" userId="9642072e4b7d6035" providerId="LiveId" clId="{D78B3F39-262A-44FE-B7C7-EA8286EA2663}" dt="2026-04-19T02:59:39.478" v="11" actId="2696"/>
        <pc:sldMkLst>
          <pc:docMk/>
          <pc:sldMk cId="0" sldId="267"/>
        </pc:sldMkLst>
        <pc:grpChg chg="mod">
          <ac:chgData name="pasham sreelatha" userId="9642072e4b7d6035" providerId="LiveId" clId="{D78B3F39-262A-44FE-B7C7-EA8286EA2663}" dt="2026-04-19T02:59:29.596" v="10" actId="14100"/>
          <ac:grpSpMkLst>
            <pc:docMk/>
            <pc:sldMk cId="0" sldId="267"/>
            <ac:grpSpMk id="5" creationId="{00000000-0000-0000-0000-000000000000}"/>
          </ac:grpSpMkLst>
        </pc:grpChg>
        <pc:grpChg chg="mod">
          <ac:chgData name="pasham sreelatha" userId="9642072e4b7d6035" providerId="LiveId" clId="{D78B3F39-262A-44FE-B7C7-EA8286EA2663}" dt="2026-04-19T02:58:47.298" v="6" actId="14100"/>
          <ac:grpSpMkLst>
            <pc:docMk/>
            <pc:sldMk cId="0" sldId="267"/>
            <ac:grpSpMk id="23" creationId="{00000000-0000-0000-0000-000000000000}"/>
          </ac:grpSpMkLst>
        </pc:grpChg>
      </pc:sldChg>
      <pc:sldChg chg="add del">
        <pc:chgData name="pasham sreelatha" userId="9642072e4b7d6035" providerId="LiveId" clId="{D78B3F39-262A-44FE-B7C7-EA8286EA2663}" dt="2026-04-19T03:06:15.324" v="15" actId="2696"/>
        <pc:sldMkLst>
          <pc:docMk/>
          <pc:sldMk cId="1984352474" sldId="267"/>
        </pc:sldMkLst>
      </pc:sldChg>
      <pc:sldChg chg="add">
        <pc:chgData name="pasham sreelatha" userId="9642072e4b7d6035" providerId="LiveId" clId="{D78B3F39-262A-44FE-B7C7-EA8286EA2663}" dt="2026-04-19T03:07:31.085" v="22"/>
        <pc:sldMkLst>
          <pc:docMk/>
          <pc:sldMk cId="121223606" sldId="268"/>
        </pc:sldMkLst>
      </pc:sldChg>
      <pc:sldChg chg="add del">
        <pc:chgData name="pasham sreelatha" userId="9642072e4b7d6035" providerId="LiveId" clId="{D78B3F39-262A-44FE-B7C7-EA8286EA2663}" dt="2026-04-19T03:06:12.207" v="14" actId="2696"/>
        <pc:sldMkLst>
          <pc:docMk/>
          <pc:sldMk cId="4174286558" sldId="268"/>
        </pc:sldMkLst>
      </pc:sldChg>
      <pc:sldMasterChg chg="delSldLayout">
        <pc:chgData name="pasham sreelatha" userId="9642072e4b7d6035" providerId="LiveId" clId="{D78B3F39-262A-44FE-B7C7-EA8286EA2663}" dt="2026-04-19T02:59:39.478" v="11" actId="2696"/>
        <pc:sldMasterMkLst>
          <pc:docMk/>
          <pc:sldMasterMk cId="0" sldId="2147483648"/>
        </pc:sldMasterMkLst>
        <pc:sldLayoutChg chg="del">
          <pc:chgData name="pasham sreelatha" userId="9642072e4b7d6035" providerId="LiveId" clId="{D78B3F39-262A-44FE-B7C7-EA8286EA2663}" dt="2026-04-19T02:59:39.478" v="11" actId="2696"/>
          <pc:sldLayoutMkLst>
            <pc:docMk/>
            <pc:sldMasterMk cId="0" sldId="2147483648"/>
            <pc:sldLayoutMk cId="559911609" sldId="214748365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3781226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6" Type="http://schemas.openxmlformats.org/officeDocument/2006/relationships/hyperlink" Target="https://harikakanapuram2006-web.github.io/my-project/" TargetMode="External"/><Relationship Id="rId5" Type="http://schemas.openxmlformats.org/officeDocument/2006/relationships/hyperlink" Target="https://drive.google.com/file/d/1hUMp1dkWJFgfmguXwI4L3ZDjptA9zXfP/view?usp=drivesdk" TargetMode="External"/><Relationship Id="rId4" Type="http://schemas.openxmlformats.org/officeDocument/2006/relationships/hyperlink" Target="https://github.com/harikakanapuram2006-web/my-project.git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2707363" y="4346948"/>
            <a:ext cx="1228850" cy="1542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2656216" y="4481321"/>
            <a:ext cx="1497151" cy="2274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Khanapuram Harika</a:t>
            </a: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757" t="2453" r="27842" b="53701"/>
          <a:stretch>
            <a:fillRect/>
          </a:stretch>
        </p:blipFill>
        <p:spPr>
          <a:xfrm flipH="1">
            <a:off x="2274349" y="4321299"/>
            <a:ext cx="410692" cy="396630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4789072" y="4344451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4610781" y="4471625"/>
            <a:ext cx="2642870" cy="2274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harikakanapuram2006@gmail.com</a:t>
            </a: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859" t="52379" r="26874" b="2349"/>
          <a:stretch>
            <a:fillRect/>
          </a:stretch>
        </p:blipFill>
        <p:spPr>
          <a:xfrm>
            <a:off x="4227760" y="4321298"/>
            <a:ext cx="395331" cy="386834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60459" y="4337076"/>
            <a:ext cx="2272871" cy="389019"/>
            <a:chOff x="3139699" y="4295282"/>
            <a:chExt cx="2272871" cy="38901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 Maheshwari</a:t>
              </a: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b="19729"/>
          <a:stretch>
            <a:fillRect/>
          </a:stretch>
        </p:blipFill>
        <p:spPr>
          <a:xfrm>
            <a:off x="173754" y="1046557"/>
            <a:ext cx="3854253" cy="184953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6CE2B4C-42F3-6C3D-A2AC-C0C414252A53}"/>
              </a:ext>
            </a:extLst>
          </p:cNvPr>
          <p:cNvSpPr txBox="1"/>
          <p:nvPr/>
        </p:nvSpPr>
        <p:spPr>
          <a:xfrm>
            <a:off x="68460" y="3462539"/>
            <a:ext cx="6056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Transforming</a:t>
            </a:r>
            <a:r>
              <a:rPr lang="en-IN" b="1" dirty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Raw Sales Data into Actionable Insights</a:t>
            </a:r>
            <a:endParaRPr lang="en-IN" sz="105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40080" y="1119791"/>
            <a:ext cx="5866826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Overview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 : analyzed global superstore data to understand overall business performance.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Objective :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clean data, track KPIs</a:t>
            </a: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,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and generate insights for decision-making.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Outcomes :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created dashboards and identified key trends and performance areas.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Key highlights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delivered clear, actionable insights for business improvement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.</a:t>
            </a:r>
            <a:endParaRPr lang="en-US" b="1" dirty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6253089" y="1046432"/>
            <a:ext cx="2834641" cy="2532596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119"/>
    </mc:Choice>
    <mc:Fallback xmlns="">
      <p:transition spd="slow" advTm="36119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65434"/>
            <a:ext cx="2715065" cy="2729791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211015" y="1082801"/>
            <a:ext cx="5894363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Core Problem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Lack of clear insights from raw data leads to poor understanding of sales and profit performance. 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Impact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Results in missed opportunities, low profitability, and inefficient business strategies. 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Target Users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Business managers, analysts, and decision-makers in retail organizations. 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b="1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Current Limitations </a:t>
            </a:r>
            <a:r>
              <a:rPr lang="en-US" sz="16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Raw data is unstructured, contains errors, and lacks real-time analytics capabilities. 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065"/>
    </mc:Choice>
    <mc:Fallback xmlns="">
      <p:transition spd="slow" advTm="56065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3015" y="470158"/>
            <a:ext cx="4297679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5" y="1046013"/>
            <a:ext cx="5220238" cy="3559126"/>
          </a:xfrm>
          <a:custGeom>
            <a:avLst/>
            <a:gdLst>
              <a:gd name="csX0" fmla="*/ 0 w 5522693"/>
              <a:gd name="csY0" fmla="*/ 0 h 3474720"/>
              <a:gd name="csX1" fmla="*/ 5522693 w 5522693"/>
              <a:gd name="csY1" fmla="*/ 0 h 3474720"/>
              <a:gd name="csX2" fmla="*/ 5522693 w 5522693"/>
              <a:gd name="csY2" fmla="*/ 3474720 h 3474720"/>
              <a:gd name="csX3" fmla="*/ 0 w 5522693"/>
              <a:gd name="csY3" fmla="*/ 3474720 h 3474720"/>
              <a:gd name="csX4" fmla="*/ 0 w 5522693"/>
              <a:gd name="csY4" fmla="*/ 0 h 3474720"/>
              <a:gd name="csX0" fmla="*/ 0 w 5874385"/>
              <a:gd name="csY0" fmla="*/ 0 h 3573194"/>
              <a:gd name="csX1" fmla="*/ 5522693 w 5874385"/>
              <a:gd name="csY1" fmla="*/ 0 h 3573194"/>
              <a:gd name="csX2" fmla="*/ 5874385 w 5874385"/>
              <a:gd name="csY2" fmla="*/ 3573194 h 3573194"/>
              <a:gd name="csX3" fmla="*/ 0 w 5874385"/>
              <a:gd name="csY3" fmla="*/ 3474720 h 3573194"/>
              <a:gd name="csX4" fmla="*/ 0 w 5874385"/>
              <a:gd name="csY4" fmla="*/ 0 h 3573194"/>
              <a:gd name="csX0" fmla="*/ 0 w 5550828"/>
              <a:gd name="csY0" fmla="*/ 0 h 3559126"/>
              <a:gd name="csX1" fmla="*/ 5522693 w 5550828"/>
              <a:gd name="csY1" fmla="*/ 0 h 3559126"/>
              <a:gd name="csX2" fmla="*/ 5550828 w 5550828"/>
              <a:gd name="csY2" fmla="*/ 3559126 h 3559126"/>
              <a:gd name="csX3" fmla="*/ 0 w 5550828"/>
              <a:gd name="csY3" fmla="*/ 3474720 h 3559126"/>
              <a:gd name="csX4" fmla="*/ 0 w 5550828"/>
              <a:gd name="csY4" fmla="*/ 0 h 35591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550828" h="3559126">
                <a:moveTo>
                  <a:pt x="0" y="0"/>
                </a:moveTo>
                <a:lnTo>
                  <a:pt x="5522693" y="0"/>
                </a:lnTo>
                <a:lnTo>
                  <a:pt x="5550828" y="3559126"/>
                </a:lnTo>
                <a:lnTo>
                  <a:pt x="0" y="3474720"/>
                </a:lnTo>
                <a:lnTo>
                  <a:pt x="0" y="0"/>
                </a:lnTo>
                <a:close/>
              </a:path>
            </a:pathLst>
          </a:cu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Lato" panose="020F0502020204030203" pitchFamily="34" charset="0"/>
                <a:cs typeface="Arial" panose="020B0604020202020204" pitchFamily="34" charset="0"/>
              </a:rPr>
              <a:t>Core Strategy </a:t>
            </a: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:Used data cleaning, KPI analysis, and visualization to generate actionable business insights for better decision-making.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Lato" panose="020F0502020204030203" pitchFamily="34" charset="0"/>
                <a:cs typeface="Arial" panose="020B0604020202020204" pitchFamily="34" charset="0"/>
              </a:rPr>
              <a:t>How It Works </a:t>
            </a: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:By analyzing KPIs, it revealed key trends, top-performing areas, and loss-making segments, enabling effective business decisions.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Lato" panose="020F0502020204030203" pitchFamily="34" charset="0"/>
                <a:cs typeface="Arial" panose="020B0604020202020204" pitchFamily="34" charset="0"/>
              </a:rPr>
              <a:t>Business impact </a:t>
            </a: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: Improved decision-making, leading to increased profitability, and better identification of growth opportunities</a:t>
            </a: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.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500"/>
    </mc:Choice>
    <mc:Fallback xmlns="">
      <p:transition spd="slow" advTm="375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Input / Source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Global Superstore dataset(CSV/Excel from Kaggle/Edunet) .</a:t>
            </a:r>
          </a:p>
        </p:txBody>
      </p:sp>
      <p:sp>
        <p:nvSpPr>
          <p:cNvPr id="10" name="Shape 8"/>
          <p:cNvSpPr/>
          <p:nvPr/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Processing /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/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Excel for data cleaning , Power BI for Dashboard creation , copilot for summaries.</a:t>
            </a:r>
          </a:p>
        </p:txBody>
      </p:sp>
      <p:sp>
        <p:nvSpPr>
          <p:cNvPr id="18" name="Shape 16"/>
          <p:cNvSpPr/>
          <p:nvPr/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 /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Visual dashboard including KPI cards, Bar charts, Pie charts ,Trend lines showing sales, profit, categories and monthly trends.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066DAD-F09C-B2BC-356A-2FA5A874295A}"/>
              </a:ext>
            </a:extLst>
          </p:cNvPr>
          <p:cNvSpPr txBox="1"/>
          <p:nvPr/>
        </p:nvSpPr>
        <p:spPr>
          <a:xfrm>
            <a:off x="4754880" y="1700400"/>
            <a:ext cx="41148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Cleaning(remove duplicates, fix formats), Excel formulas, power Query. KPI calculations (Sales, Profit, Orders)Trend analysis ,Category &amp; region comparison.</a:t>
            </a:r>
            <a:endParaRPr lang="en-IN" sz="1600" dirty="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228"/>
    </mc:Choice>
    <mc:Fallback xmlns="">
      <p:transition spd="slow" advTm="47228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Git hub Repo 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  <a:hlinkClick r:id="rId4"/>
              </a:rPr>
              <a:t>https://github.com/harikakanapuram2006-web/my-project.git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algn="ctr"/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algn="ctr"/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41548" y="2201271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18688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Video Presentation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55848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  <a:hlinkClick r:id="rId5"/>
              </a:rPr>
              <a:t>https://drive.google.com/file/d/1hUMp1dkWJFgfmguXwI4L3ZDjptA9zXfP/view?usp=drivesdk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  <a:p>
            <a:pPr algn="ctr"/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67144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 dirty="0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63056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Dashboard Link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IN" b="1" dirty="0"/>
              <a:t> </a:t>
            </a:r>
            <a:r>
              <a:rPr lang="en-IN" b="1" u="sng" dirty="0">
                <a:hlinkClick r:id="rId6"/>
              </a:rPr>
              <a:t>https://harikakanapuram2006-web.github.io/my-project/</a:t>
            </a:r>
            <a:endParaRPr lang="en-IN" b="1" u="sng" dirty="0"/>
          </a:p>
          <a:p>
            <a:pPr algn="ctr"/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5691505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b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</a:br>
            <a:b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</a:br>
            <a:r>
              <a:rPr lang="en-US" sz="1600" dirty="0">
                <a:latin typeface="Lato" panose="020F0502020204030203" pitchFamily="34" charset="0"/>
                <a:cs typeface="Arial" panose="020B0604020202020204" pitchFamily="34" charset="0"/>
              </a:rPr>
              <a:t>This project successfully transformed raw sales data into meaningful insights through data cleaning, analysis, and visualization. The interactive dashboards helped identify key trends, top-performing products, and loss-making areas, enabling better decision-making. Overall, the project demonstrates how data-driven strategies can improve business performance, profitability, and operational efficiency</a:t>
            </a: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5535636" y="971551"/>
            <a:ext cx="3151163" cy="300609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081"/>
    </mc:Choice>
    <mc:Fallback xmlns="">
      <p:transition spd="slow" advTm="3308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698" y="1052473"/>
            <a:ext cx="3960055" cy="338427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5F2462-737B-25A0-CE9F-21C9EC265BEB}"/>
              </a:ext>
            </a:extLst>
          </p:cNvPr>
          <p:cNvSpPr txBox="1"/>
          <p:nvPr/>
        </p:nvSpPr>
        <p:spPr>
          <a:xfrm>
            <a:off x="246186" y="1364566"/>
            <a:ext cx="528241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Expand dashboards with predictive analytics and forecasting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Integrate real-time data streams (APIs) for live updates.</a:t>
            </a:r>
            <a:br>
              <a:rPr lang="en-US" sz="1600" dirty="0"/>
            </a:br>
            <a:r>
              <a:rPr lang="en-US" sz="1600" dirty="0"/>
              <a:t>Build a prompt library for AI-assisted reporting.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Enhance dashboards with advanced drill-down and interactive features.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Explore scalability for enterprise-level datasets.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Research advanced Copilot + Power BI automation workflows.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Enable cloud and mobile accessibility for wider usage</a:t>
            </a:r>
            <a:endParaRPr lang="en-IN" sz="1600" dirty="0"/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998"/>
    </mc:Choice>
    <mc:Fallback xmlns="">
      <p:transition spd="slow" advTm="31998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Edunet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346"/>
    </mc:Choice>
    <mc:Fallback xmlns="">
      <p:transition spd="slow" advTm="6346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543</Words>
  <Application>Microsoft Office PowerPoint</Application>
  <PresentationFormat>On-screen Show (16:9)</PresentationFormat>
  <Paragraphs>70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pasham sreelatha</cp:lastModifiedBy>
  <cp:revision>29</cp:revision>
  <dcterms:created xsi:type="dcterms:W3CDTF">2026-02-18T09:17:23Z</dcterms:created>
  <dcterms:modified xsi:type="dcterms:W3CDTF">2026-04-19T03:07:41Z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