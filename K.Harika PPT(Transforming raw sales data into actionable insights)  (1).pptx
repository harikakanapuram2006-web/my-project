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4.xml" ContentType="application/vnd.openxmlformats-officedocument.presentationml.tags+xml"/>
  <Override PartName="/ppt/notesSlides/notesSlide2.xml" ContentType="application/vnd.openxmlformats-officedocument.presentationml.notesSlide+xml"/>
  <Override PartName="/ppt/tags/tag5.xml" ContentType="application/vnd.openxmlformats-officedocument.presentationml.tags+xml"/>
  <Override PartName="/ppt/notesSlides/notesSlide3.xml" ContentType="application/vnd.openxmlformats-officedocument.presentationml.notesSlide+xml"/>
  <Override PartName="/ppt/tags/tag6.xml" ContentType="application/vnd.openxmlformats-officedocument.presentationml.tags+xml"/>
  <Override PartName="/ppt/notesSlides/notesSlide4.xml" ContentType="application/vnd.openxmlformats-officedocument.presentationml.notesSlide+xml"/>
  <Override PartName="/ppt/tags/tag7.xml" ContentType="application/vnd.openxmlformats-officedocument.presentationml.tags+xml"/>
  <Override PartName="/ppt/notesSlides/notesSlide5.xml" ContentType="application/vnd.openxmlformats-officedocument.presentationml.notesSlide+xml"/>
  <Override PartName="/ppt/tags/tag8.xml" ContentType="application/vnd.openxmlformats-officedocument.presentationml.tags+xml"/>
  <Override PartName="/ppt/notesSlides/notesSlide6.xml" ContentType="application/vnd.openxmlformats-officedocument.presentationml.notesSlide+xml"/>
  <Override PartName="/ppt/tags/tag9.xml" ContentType="application/vnd.openxmlformats-officedocument.presentationml.tags+xml"/>
  <Override PartName="/ppt/notesSlides/notesSlide7.xml" ContentType="application/vnd.openxmlformats-officedocument.presentationml.notesSlide+xml"/>
  <Override PartName="/ppt/tags/tag10.xml" ContentType="application/vnd.openxmlformats-officedocument.presentationml.tags+xml"/>
  <Override PartName="/ppt/notesSlides/notesSlide8.xml" ContentType="application/vnd.openxmlformats-officedocument.presentationml.notesSlide+xml"/>
  <Override PartName="/ppt/tags/tag11.xml" ContentType="application/vnd.openxmlformats-officedocument.presentationml.tags+xml"/>
  <Override PartName="/ppt/notesSlides/notesSlide9.xml" ContentType="application/vnd.openxmlformats-officedocument.presentationml.notesSlide+xml"/>
  <Override PartName="/ppt/tags/tag12.xml" ContentType="application/vnd.openxmlformats-officedocument.presentationml.tags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</p:sldIdLst>
  <p:sldSz cx="9144000" cy="5143500" type="screen16x9"/>
  <p:notesSz cx="5143500" cy="9144000"/>
  <p:custDataLst>
    <p:tags r:id="rId13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12" userDrawn="1">
          <p15:clr>
            <a:srgbClr val="A4A3A4"/>
          </p15:clr>
        </p15:guide>
        <p15:guide id="2" orient="horz" pos="852" userDrawn="1">
          <p15:clr>
            <a:srgbClr val="A4A3A4"/>
          </p15:clr>
        </p15:guide>
        <p15:guide id="3" pos="14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3ED"/>
    <a:srgbClr val="CEE3FA"/>
    <a:srgbClr val="1565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52B196-BFC6-4AC5-8D72-B9E505645D31}" v="2" dt="2026-04-15T13:51:29.00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101"/>
      </p:cViewPr>
      <p:guideLst>
        <p:guide orient="horz" pos="612"/>
        <p:guide orient="horz" pos="852"/>
        <p:guide pos="14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gs" Target="tags/tag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sham sreelatha" userId="9642072e4b7d6035" providerId="LiveId" clId="{D78B3F39-262A-44FE-B7C7-EA8286EA2663}"/>
    <pc:docChg chg="addSld delSld modSld">
      <pc:chgData name="pasham sreelatha" userId="9642072e4b7d6035" providerId="LiveId" clId="{D78B3F39-262A-44FE-B7C7-EA8286EA2663}" dt="2026-04-15T13:52:59.945" v="4" actId="2696"/>
      <pc:docMkLst>
        <pc:docMk/>
      </pc:docMkLst>
      <pc:sldChg chg="add del setBg">
        <pc:chgData name="pasham sreelatha" userId="9642072e4b7d6035" providerId="LiveId" clId="{D78B3F39-262A-44FE-B7C7-EA8286EA2663}" dt="2026-04-15T13:50:34.502" v="1" actId="2696"/>
        <pc:sldMkLst>
          <pc:docMk/>
          <pc:sldMk cId="0" sldId="256"/>
        </pc:sldMkLst>
      </pc:sldChg>
      <pc:sldChg chg="add">
        <pc:chgData name="pasham sreelatha" userId="9642072e4b7d6035" providerId="LiveId" clId="{D78B3F39-262A-44FE-B7C7-EA8286EA2663}" dt="2026-04-15T13:51:29.007" v="2"/>
        <pc:sldMkLst>
          <pc:docMk/>
          <pc:sldMk cId="1262068456" sldId="256"/>
        </pc:sldMkLst>
      </pc:sldChg>
      <pc:sldChg chg="del">
        <pc:chgData name="pasham sreelatha" userId="9642072e4b7d6035" providerId="LiveId" clId="{D78B3F39-262A-44FE-B7C7-EA8286EA2663}" dt="2026-04-15T13:52:57.162" v="3" actId="2696"/>
        <pc:sldMkLst>
          <pc:docMk/>
          <pc:sldMk cId="121223606" sldId="268"/>
        </pc:sldMkLst>
      </pc:sldChg>
      <pc:sldChg chg="del">
        <pc:chgData name="pasham sreelatha" userId="9642072e4b7d6035" providerId="LiveId" clId="{D78B3F39-262A-44FE-B7C7-EA8286EA2663}" dt="2026-04-15T13:52:59.945" v="4" actId="2696"/>
        <pc:sldMkLst>
          <pc:docMk/>
          <pc:sldMk cId="1123216116" sldId="269"/>
        </pc:sldMkLst>
      </pc:sldChg>
      <pc:sldMasterChg chg="delSldLayout">
        <pc:chgData name="pasham sreelatha" userId="9642072e4b7d6035" providerId="LiveId" clId="{D78B3F39-262A-44FE-B7C7-EA8286EA2663}" dt="2026-04-15T13:52:59.945" v="4" actId="2696"/>
        <pc:sldMasterMkLst>
          <pc:docMk/>
          <pc:sldMasterMk cId="0" sldId="2147483648"/>
        </pc:sldMasterMkLst>
        <pc:sldLayoutChg chg="del">
          <pc:chgData name="pasham sreelatha" userId="9642072e4b7d6035" providerId="LiveId" clId="{D78B3F39-262A-44FE-B7C7-EA8286EA2663}" dt="2026-04-15T13:52:59.945" v="4" actId="2696"/>
          <pc:sldLayoutMkLst>
            <pc:docMk/>
            <pc:sldMasterMk cId="0" sldId="2147483648"/>
            <pc:sldLayoutMk cId="2652038010" sldId="2147483650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06544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2321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ags" Target="../tags/tag2.xml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8">
            <a:extLst>
              <a:ext uri="{FF2B5EF4-FFF2-40B4-BE49-F238E27FC236}">
                <a16:creationId xmlns:a16="http://schemas.microsoft.com/office/drawing/2014/main" id="{A68FA2BF-9B6A-948D-43A3-04C207F5B33C}"/>
              </a:ext>
            </a:extLst>
          </p:cNvPr>
          <p:cNvGrpSpPr/>
          <p:nvPr userDrawn="1"/>
        </p:nvGrpSpPr>
        <p:grpSpPr>
          <a:xfrm flipH="1">
            <a:off x="0" y="5036127"/>
            <a:ext cx="9144000" cy="107373"/>
            <a:chOff x="0" y="0"/>
            <a:chExt cx="4402382" cy="66464"/>
          </a:xfrm>
        </p:grpSpPr>
        <p:sp>
          <p:nvSpPr>
            <p:cNvPr id="3" name="Freeform 9">
              <a:extLst>
                <a:ext uri="{FF2B5EF4-FFF2-40B4-BE49-F238E27FC236}">
                  <a16:creationId xmlns:a16="http://schemas.microsoft.com/office/drawing/2014/main" id="{8B83B97F-BA22-827B-E1BD-8DD9E1D3E0F6}"/>
                </a:ext>
              </a:extLst>
            </p:cNvPr>
            <p:cNvSpPr/>
            <p:nvPr/>
          </p:nvSpPr>
          <p:spPr>
            <a:xfrm>
              <a:off x="0" y="0"/>
              <a:ext cx="4402382" cy="66464"/>
            </a:xfrm>
            <a:custGeom>
              <a:avLst/>
              <a:gdLst/>
              <a:ahLst/>
              <a:cxnLst/>
              <a:rect l="l" t="t" r="r" b="b"/>
              <a:pathLst>
                <a:path w="4402382" h="66464">
                  <a:moveTo>
                    <a:pt x="0" y="0"/>
                  </a:moveTo>
                  <a:lnTo>
                    <a:pt x="4402382" y="0"/>
                  </a:lnTo>
                  <a:lnTo>
                    <a:pt x="4402382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10">
              <a:extLst>
                <a:ext uri="{FF2B5EF4-FFF2-40B4-BE49-F238E27FC236}">
                  <a16:creationId xmlns:a16="http://schemas.microsoft.com/office/drawing/2014/main" id="{FC94FAC8-E161-FF7D-84BF-C498EADA502D}"/>
                </a:ext>
              </a:extLst>
            </p:cNvPr>
            <p:cNvSpPr txBox="1"/>
            <p:nvPr/>
          </p:nvSpPr>
          <p:spPr>
            <a:xfrm>
              <a:off x="0" y="-38100"/>
              <a:ext cx="4402382" cy="1045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8">
            <a:extLst>
              <a:ext uri="{FF2B5EF4-FFF2-40B4-BE49-F238E27FC236}">
                <a16:creationId xmlns:a16="http://schemas.microsoft.com/office/drawing/2014/main" id="{1988876B-43B4-642F-AB10-8B137A34386D}"/>
              </a:ext>
            </a:extLst>
          </p:cNvPr>
          <p:cNvGrpSpPr/>
          <p:nvPr userDrawn="1"/>
        </p:nvGrpSpPr>
        <p:grpSpPr>
          <a:xfrm>
            <a:off x="0" y="0"/>
            <a:ext cx="9144000" cy="424206"/>
            <a:chOff x="0" y="0"/>
            <a:chExt cx="4402382" cy="66464"/>
          </a:xfrm>
        </p:grpSpPr>
        <p:sp>
          <p:nvSpPr>
            <p:cNvPr id="6" name="Freeform 9">
              <a:extLst>
                <a:ext uri="{FF2B5EF4-FFF2-40B4-BE49-F238E27FC236}">
                  <a16:creationId xmlns:a16="http://schemas.microsoft.com/office/drawing/2014/main" id="{613EFC18-F90F-C121-3F09-53AB8141D658}"/>
                </a:ext>
              </a:extLst>
            </p:cNvPr>
            <p:cNvSpPr/>
            <p:nvPr/>
          </p:nvSpPr>
          <p:spPr>
            <a:xfrm>
              <a:off x="0" y="0"/>
              <a:ext cx="4402382" cy="66464"/>
            </a:xfrm>
            <a:custGeom>
              <a:avLst/>
              <a:gdLst/>
              <a:ahLst/>
              <a:cxnLst/>
              <a:rect l="l" t="t" r="r" b="b"/>
              <a:pathLst>
                <a:path w="4402382" h="66464">
                  <a:moveTo>
                    <a:pt x="0" y="0"/>
                  </a:moveTo>
                  <a:lnTo>
                    <a:pt x="4402382" y="0"/>
                  </a:lnTo>
                  <a:lnTo>
                    <a:pt x="4402382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10">
              <a:extLst>
                <a:ext uri="{FF2B5EF4-FFF2-40B4-BE49-F238E27FC236}">
                  <a16:creationId xmlns:a16="http://schemas.microsoft.com/office/drawing/2014/main" id="{D81422F7-8BE4-EC53-5307-9812E24315C1}"/>
                </a:ext>
              </a:extLst>
            </p:cNvPr>
            <p:cNvSpPr txBox="1"/>
            <p:nvPr/>
          </p:nvSpPr>
          <p:spPr>
            <a:xfrm>
              <a:off x="0" y="-38100"/>
              <a:ext cx="4402382" cy="1045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8" name="Picture 7" descr="A black and white logo&#10;&#10;AI-generated content may be incorrect.">
            <a:extLst>
              <a:ext uri="{FF2B5EF4-FFF2-40B4-BE49-F238E27FC236}">
                <a16:creationId xmlns:a16="http://schemas.microsoft.com/office/drawing/2014/main" id="{31AC86FC-94F1-13A5-98FD-3215960D2A0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820696" y="55166"/>
            <a:ext cx="965086" cy="313873"/>
          </a:xfrm>
          <a:prstGeom prst="rect">
            <a:avLst/>
          </a:prstGeom>
        </p:spPr>
      </p:pic>
    </p:spTree>
    <p:custDataLst>
      <p:tags r:id="rId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.xml"/><Relationship Id="rId6" Type="http://schemas.openxmlformats.org/officeDocument/2006/relationships/hyperlink" Target="https://harikakanapuram2006-web.github.io/my-project/" TargetMode="External"/><Relationship Id="rId5" Type="http://schemas.openxmlformats.org/officeDocument/2006/relationships/hyperlink" Target="https://drive.google.com/file/d/1hUMp1dkWJFgfmguXwI4L3ZDjptA9zXfP/view?usp=drivesdk" TargetMode="External"/><Relationship Id="rId4" Type="http://schemas.openxmlformats.org/officeDocument/2006/relationships/hyperlink" Target="https://github.com/harikakanapuram2006-web/my-project.git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1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91440"/>
            <a:ext cx="4572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LinkedIn  </a:t>
            </a:r>
            <a:r>
              <a:rPr lang="en-US" sz="950" err="1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Edunet</a:t>
            </a:r>
            <a:r>
              <a:rPr lang="en-US" sz="95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endParaRPr lang="en-US" sz="950"/>
          </a:p>
        </p:txBody>
      </p:sp>
      <p:sp>
        <p:nvSpPr>
          <p:cNvPr id="5" name="Shape 3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0" y="0"/>
            <a:ext cx="502920" cy="51435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9" name="Shape 7"/>
          <p:cNvSpPr/>
          <p:nvPr/>
        </p:nvSpPr>
        <p:spPr>
          <a:xfrm>
            <a:off x="6126480" y="3108960"/>
            <a:ext cx="2834640" cy="109728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0" y="3291840"/>
            <a:ext cx="2468880" cy="109728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11" name="Shape 9"/>
          <p:cNvSpPr/>
          <p:nvPr/>
        </p:nvSpPr>
        <p:spPr>
          <a:xfrm>
            <a:off x="6675120" y="3474720"/>
            <a:ext cx="2103120" cy="109728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" y="960120"/>
            <a:ext cx="5029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Transforming Raw Sales Data into Actionable Insights</a:t>
            </a:r>
            <a:endParaRPr lang="en-US" sz="3200" dirty="0"/>
          </a:p>
        </p:txBody>
      </p:sp>
      <p:sp>
        <p:nvSpPr>
          <p:cNvPr id="13" name="Shape 11"/>
          <p:cNvSpPr/>
          <p:nvPr/>
        </p:nvSpPr>
        <p:spPr>
          <a:xfrm>
            <a:off x="320040" y="2578608"/>
            <a:ext cx="3840480" cy="38404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4" name="Shape 12"/>
          <p:cNvSpPr/>
          <p:nvPr/>
        </p:nvSpPr>
        <p:spPr>
          <a:xfrm>
            <a:off x="4160520" y="2578608"/>
            <a:ext cx="274320" cy="384048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" y="257860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R E S E N T A T I O N   2 0 2 6</a:t>
            </a:r>
            <a:endParaRPr lang="en-US" sz="1300"/>
          </a:p>
        </p:txBody>
      </p:sp>
      <p:sp>
        <p:nvSpPr>
          <p:cNvPr id="16" name="Shape 14"/>
          <p:cNvSpPr/>
          <p:nvPr/>
        </p:nvSpPr>
        <p:spPr>
          <a:xfrm>
            <a:off x="320040" y="3611880"/>
            <a:ext cx="411480" cy="411480"/>
          </a:xfrm>
          <a:prstGeom prst="ellipse">
            <a:avLst/>
          </a:prstGeom>
          <a:solidFill>
            <a:srgbClr val="ECEFF1"/>
          </a:solidFill>
          <a:ln w="19050">
            <a:solidFill>
              <a:srgbClr val="1B3A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3621024"/>
            <a:ext cx="4114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000000"/>
                </a:solidFill>
              </a:rPr>
              <a:t>👤</a:t>
            </a:r>
            <a:endParaRPr lang="en-US" sz="1600"/>
          </a:p>
        </p:txBody>
      </p:sp>
      <p:sp>
        <p:nvSpPr>
          <p:cNvPr id="18" name="Text 16"/>
          <p:cNvSpPr/>
          <p:nvPr/>
        </p:nvSpPr>
        <p:spPr>
          <a:xfrm>
            <a:off x="777240" y="361188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</a:t>
            </a:r>
            <a:endParaRPr lang="en-US" sz="900"/>
          </a:p>
        </p:txBody>
      </p:sp>
      <p:sp>
        <p:nvSpPr>
          <p:cNvPr id="19" name="Text 17"/>
          <p:cNvSpPr/>
          <p:nvPr/>
        </p:nvSpPr>
        <p:spPr>
          <a:xfrm>
            <a:off x="777240" y="37947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Khanapuram Harika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834640" y="3611880"/>
            <a:ext cx="411480" cy="411480"/>
          </a:xfrm>
          <a:prstGeom prst="ellipse">
            <a:avLst/>
          </a:prstGeom>
          <a:solidFill>
            <a:srgbClr val="ECEFF1"/>
          </a:solidFill>
          <a:ln w="19050">
            <a:solidFill>
              <a:srgbClr val="1B3A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834640" y="3621024"/>
            <a:ext cx="4114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000000"/>
                </a:solidFill>
              </a:rPr>
              <a:t>✉</a:t>
            </a:r>
            <a:endParaRPr lang="en-US" sz="1600"/>
          </a:p>
        </p:txBody>
      </p:sp>
      <p:sp>
        <p:nvSpPr>
          <p:cNvPr id="22" name="Text 20"/>
          <p:cNvSpPr/>
          <p:nvPr/>
        </p:nvSpPr>
        <p:spPr>
          <a:xfrm>
            <a:off x="3291840" y="361188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Email</a:t>
            </a:r>
            <a:endParaRPr lang="en-US" sz="900"/>
          </a:p>
        </p:txBody>
      </p:sp>
      <p:sp>
        <p:nvSpPr>
          <p:cNvPr id="23" name="Text 21"/>
          <p:cNvSpPr/>
          <p:nvPr/>
        </p:nvSpPr>
        <p:spPr>
          <a:xfrm>
            <a:off x="3291840" y="3794760"/>
            <a:ext cx="2236878" cy="2943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harikakanapuram2006@gmail.com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7722" y="4384041"/>
            <a:ext cx="411480" cy="411480"/>
          </a:xfrm>
          <a:prstGeom prst="ellipse">
            <a:avLst/>
          </a:prstGeom>
          <a:solidFill>
            <a:srgbClr val="ECEFF1"/>
          </a:solidFill>
          <a:ln w="19050">
            <a:solidFill>
              <a:srgbClr val="1B3A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7722" y="4393185"/>
            <a:ext cx="4114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000000"/>
                </a:solidFill>
              </a:rPr>
              <a:t>📖</a:t>
            </a:r>
            <a:endParaRPr lang="en-US" sz="1600"/>
          </a:p>
        </p:txBody>
      </p:sp>
      <p:sp>
        <p:nvSpPr>
          <p:cNvPr id="27" name="Text 25"/>
          <p:cNvSpPr/>
          <p:nvPr/>
        </p:nvSpPr>
        <p:spPr>
          <a:xfrm>
            <a:off x="782333" y="4478866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Umamaheshwari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B3A8A"/>
          </a:solidFill>
          <a:ln/>
        </p:spPr>
      </p:sp>
    </p:spTree>
    <p:extLst>
      <p:ext uri="{BB962C8B-B14F-4D97-AF65-F5344CB8AC3E}">
        <p14:creationId xmlns:p14="http://schemas.microsoft.com/office/powerpoint/2010/main" val="12620684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30350" y="610217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Outline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865657-EE51-429D-40B6-B64C80E4AB47}"/>
              </a:ext>
            </a:extLst>
          </p:cNvPr>
          <p:cNvSpPr txBox="1"/>
          <p:nvPr/>
        </p:nvSpPr>
        <p:spPr>
          <a:xfrm>
            <a:off x="125239" y="1080603"/>
            <a:ext cx="4446761" cy="3026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solidFill>
                  <a:schemeClr val="tx1"/>
                </a:solidFill>
                <a:effectLst/>
                <a:latin typeface="Lato" panose="020F050202020403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Abstract of the Project</a:t>
            </a:r>
            <a:endParaRPr lang="en-IN" sz="1800" dirty="0">
              <a:solidFill>
                <a:schemeClr val="tx1"/>
              </a:solidFill>
              <a:latin typeface="Lato" panose="020F0502020204030203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Problem Statement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Proposed Solution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System Architecture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Live Demo of the Project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Embedded Video of Project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IN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Conclusion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Future Scope</a:t>
            </a:r>
          </a:p>
        </p:txBody>
      </p:sp>
      <p:pic>
        <p:nvPicPr>
          <p:cNvPr id="25" name="Picture 24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C3A7F110-9D19-8523-45D3-77B1951C8835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25250" t="7320" r="18976" b="28715"/>
          <a:stretch>
            <a:fillRect/>
          </a:stretch>
        </p:blipFill>
        <p:spPr>
          <a:xfrm>
            <a:off x="5378824" y="1034325"/>
            <a:ext cx="2868706" cy="3290047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40079" y="60752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Abstract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849028-F25C-7DA0-DE56-0DC142EECABD}"/>
              </a:ext>
            </a:extLst>
          </p:cNvPr>
          <p:cNvSpPr txBox="1"/>
          <p:nvPr/>
        </p:nvSpPr>
        <p:spPr>
          <a:xfrm>
            <a:off x="140080" y="1119791"/>
            <a:ext cx="5866826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600" b="1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Overview</a:t>
            </a:r>
            <a:r>
              <a:rPr lang="en-US" sz="16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 : analyzed global superstore data to understand overall business performance.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600" b="1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Objective : </a:t>
            </a:r>
            <a:r>
              <a:rPr lang="en-US" sz="16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clean data, track KPIs</a:t>
            </a:r>
            <a:r>
              <a:rPr lang="en-US" sz="1600" b="1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, </a:t>
            </a:r>
            <a:r>
              <a:rPr lang="en-US" sz="16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and generate insights for decision-making.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600" b="1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Outcomes : </a:t>
            </a:r>
            <a:r>
              <a:rPr lang="en-US" sz="16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created dashboards and identified key trends and performance areas.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600" b="1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Key highlights </a:t>
            </a:r>
            <a:r>
              <a:rPr lang="en-US" sz="16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: delivered clear, actionable insights for business improvement</a:t>
            </a:r>
            <a:r>
              <a:rPr lang="en-US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.</a:t>
            </a:r>
            <a:endParaRPr lang="en-US" b="1" dirty="0">
              <a:latin typeface="Lato" panose="020F0502020204030203" pitchFamily="34" charset="0"/>
              <a:ea typeface="+mn-lt"/>
              <a:cs typeface="Arial" panose="020B0604020202020204" pitchFamily="34" charset="0"/>
            </a:endParaRPr>
          </a:p>
        </p:txBody>
      </p:sp>
      <p:sp>
        <p:nvSpPr>
          <p:cNvPr id="2" name="Freeform 28">
            <a:extLst>
              <a:ext uri="{FF2B5EF4-FFF2-40B4-BE49-F238E27FC236}">
                <a16:creationId xmlns:a16="http://schemas.microsoft.com/office/drawing/2014/main" id="{AA7F05EE-340D-A58A-BAD0-FB0660B2D339}"/>
              </a:ext>
            </a:extLst>
          </p:cNvPr>
          <p:cNvSpPr/>
          <p:nvPr/>
        </p:nvSpPr>
        <p:spPr>
          <a:xfrm>
            <a:off x="6253089" y="1046432"/>
            <a:ext cx="2834641" cy="2532596"/>
          </a:xfrm>
          <a:custGeom>
            <a:avLst/>
            <a:gdLst/>
            <a:ahLst/>
            <a:cxnLst/>
            <a:rect l="l" t="t" r="r" b="b"/>
            <a:pathLst>
              <a:path w="4114800" h="4017541">
                <a:moveTo>
                  <a:pt x="0" y="0"/>
                </a:moveTo>
                <a:lnTo>
                  <a:pt x="4114800" y="0"/>
                </a:lnTo>
                <a:lnTo>
                  <a:pt x="4114800" y="4017541"/>
                </a:lnTo>
                <a:lnTo>
                  <a:pt x="0" y="40175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6119"/>
    </mc:Choice>
    <mc:Fallback xmlns="">
      <p:transition spd="slow" advTm="36119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27B2E24-A610-1C01-FCDD-9B6B67A72E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265434"/>
            <a:ext cx="2715065" cy="2729791"/>
          </a:xfrm>
          <a:prstGeom prst="rect">
            <a:avLst/>
          </a:prstGeom>
        </p:spPr>
      </p:pic>
      <p:sp>
        <p:nvSpPr>
          <p:cNvPr id="4" name="Text 2"/>
          <p:cNvSpPr/>
          <p:nvPr/>
        </p:nvSpPr>
        <p:spPr>
          <a:xfrm>
            <a:off x="120623" y="611286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Problem Statement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76AC24-5CB7-D860-6A01-E6D8ABD38610}"/>
              </a:ext>
            </a:extLst>
          </p:cNvPr>
          <p:cNvSpPr txBox="1"/>
          <p:nvPr/>
        </p:nvSpPr>
        <p:spPr>
          <a:xfrm>
            <a:off x="211015" y="1082801"/>
            <a:ext cx="5894363" cy="2369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600" b="1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Core Problem </a:t>
            </a:r>
            <a:r>
              <a:rPr lang="en-US" sz="16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: Lack of clear insights from raw data leads to poor understanding of sales and profit performance. 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600" b="1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Impact </a:t>
            </a:r>
            <a:r>
              <a:rPr lang="en-US" sz="16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: Results in missed opportunities, low profitability, and inefficient business strategies. 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600" b="1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Target Users </a:t>
            </a:r>
            <a:r>
              <a:rPr lang="en-US" sz="16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: Business managers, analysts, and decision-makers in retail organizations. 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600" b="1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Current Limitations </a:t>
            </a:r>
            <a:r>
              <a:rPr lang="en-US" sz="16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: Raw data is unstructured, contains errors, and lacks real-time analytics capabilities. 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6065"/>
    </mc:Choice>
    <mc:Fallback xmlns="">
      <p:transition spd="slow" advTm="56065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1F49F94-4102-44CC-056B-FA1BB4DA8D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3015" y="470158"/>
            <a:ext cx="4297679" cy="4203183"/>
          </a:xfrm>
          <a:prstGeom prst="rect">
            <a:avLst/>
          </a:prstGeom>
        </p:spPr>
      </p:pic>
      <p:sp>
        <p:nvSpPr>
          <p:cNvPr id="4" name="Text 2"/>
          <p:cNvSpPr/>
          <p:nvPr/>
        </p:nvSpPr>
        <p:spPr>
          <a:xfrm>
            <a:off x="125486" y="61693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Proposed Solution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846320" y="1280160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0" dirty="0"/>
          </a:p>
        </p:txBody>
      </p:sp>
      <p:sp>
        <p:nvSpPr>
          <p:cNvPr id="5" name="Text 12"/>
          <p:cNvSpPr/>
          <p:nvPr/>
        </p:nvSpPr>
        <p:spPr>
          <a:xfrm>
            <a:off x="125485" y="1046013"/>
            <a:ext cx="5220238" cy="3559126"/>
          </a:xfrm>
          <a:custGeom>
            <a:avLst/>
            <a:gdLst>
              <a:gd name="csX0" fmla="*/ 0 w 5522693"/>
              <a:gd name="csY0" fmla="*/ 0 h 3474720"/>
              <a:gd name="csX1" fmla="*/ 5522693 w 5522693"/>
              <a:gd name="csY1" fmla="*/ 0 h 3474720"/>
              <a:gd name="csX2" fmla="*/ 5522693 w 5522693"/>
              <a:gd name="csY2" fmla="*/ 3474720 h 3474720"/>
              <a:gd name="csX3" fmla="*/ 0 w 5522693"/>
              <a:gd name="csY3" fmla="*/ 3474720 h 3474720"/>
              <a:gd name="csX4" fmla="*/ 0 w 5522693"/>
              <a:gd name="csY4" fmla="*/ 0 h 3474720"/>
              <a:gd name="csX0" fmla="*/ 0 w 5874385"/>
              <a:gd name="csY0" fmla="*/ 0 h 3573194"/>
              <a:gd name="csX1" fmla="*/ 5522693 w 5874385"/>
              <a:gd name="csY1" fmla="*/ 0 h 3573194"/>
              <a:gd name="csX2" fmla="*/ 5874385 w 5874385"/>
              <a:gd name="csY2" fmla="*/ 3573194 h 3573194"/>
              <a:gd name="csX3" fmla="*/ 0 w 5874385"/>
              <a:gd name="csY3" fmla="*/ 3474720 h 3573194"/>
              <a:gd name="csX4" fmla="*/ 0 w 5874385"/>
              <a:gd name="csY4" fmla="*/ 0 h 3573194"/>
              <a:gd name="csX0" fmla="*/ 0 w 5550828"/>
              <a:gd name="csY0" fmla="*/ 0 h 3559126"/>
              <a:gd name="csX1" fmla="*/ 5522693 w 5550828"/>
              <a:gd name="csY1" fmla="*/ 0 h 3559126"/>
              <a:gd name="csX2" fmla="*/ 5550828 w 5550828"/>
              <a:gd name="csY2" fmla="*/ 3559126 h 3559126"/>
              <a:gd name="csX3" fmla="*/ 0 w 5550828"/>
              <a:gd name="csY3" fmla="*/ 3474720 h 3559126"/>
              <a:gd name="csX4" fmla="*/ 0 w 5550828"/>
              <a:gd name="csY4" fmla="*/ 0 h 355912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550828" h="3559126">
                <a:moveTo>
                  <a:pt x="0" y="0"/>
                </a:moveTo>
                <a:lnTo>
                  <a:pt x="5522693" y="0"/>
                </a:lnTo>
                <a:lnTo>
                  <a:pt x="5550828" y="3559126"/>
                </a:lnTo>
                <a:lnTo>
                  <a:pt x="0" y="3474720"/>
                </a:lnTo>
                <a:lnTo>
                  <a:pt x="0" y="0"/>
                </a:lnTo>
                <a:close/>
              </a:path>
            </a:pathLst>
          </a:custGeom>
          <a:noFill/>
          <a:ln/>
        </p:spPr>
        <p:txBody>
          <a:bodyPr wrap="square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Lato" panose="020F0502020204030203" pitchFamily="34" charset="0"/>
                <a:cs typeface="Arial" panose="020B0604020202020204" pitchFamily="34" charset="0"/>
              </a:rPr>
              <a:t>Core Strategy </a:t>
            </a:r>
            <a:r>
              <a:rPr lang="en-US" sz="1600" dirty="0">
                <a:latin typeface="Lato" panose="020F0502020204030203" pitchFamily="34" charset="0"/>
                <a:cs typeface="Arial" panose="020B0604020202020204" pitchFamily="34" charset="0"/>
              </a:rPr>
              <a:t>:Used data cleaning, KPI analysis, and visualization to generate actionable business insights for better decision-making.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Lato" panose="020F0502020204030203" pitchFamily="34" charset="0"/>
                <a:cs typeface="Arial" panose="020B0604020202020204" pitchFamily="34" charset="0"/>
              </a:rPr>
              <a:t>How It Works </a:t>
            </a:r>
            <a:r>
              <a:rPr lang="en-US" sz="1600" dirty="0">
                <a:latin typeface="Lato" panose="020F0502020204030203" pitchFamily="34" charset="0"/>
                <a:cs typeface="Arial" panose="020B0604020202020204" pitchFamily="34" charset="0"/>
              </a:rPr>
              <a:t>:By analyzing KPIs, it revealed key trends, top-performing areas, and loss-making segments, enabling effective business decisions.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Lato" panose="020F0502020204030203" pitchFamily="34" charset="0"/>
                <a:cs typeface="Arial" panose="020B0604020202020204" pitchFamily="34" charset="0"/>
              </a:rPr>
              <a:t>Business impact </a:t>
            </a:r>
            <a:r>
              <a:rPr lang="en-US" sz="1600" dirty="0">
                <a:latin typeface="Lato" panose="020F0502020204030203" pitchFamily="34" charset="0"/>
                <a:cs typeface="Arial" panose="020B0604020202020204" pitchFamily="34" charset="0"/>
              </a:rPr>
              <a:t>: Improved decision-making, leading to increased profitability, and better identification of growth opportunities</a:t>
            </a:r>
            <a:r>
              <a:rPr lang="en-US" dirty="0">
                <a:latin typeface="Lato" panose="020F0502020204030203" pitchFamily="34" charset="0"/>
                <a:cs typeface="Arial" panose="020B0604020202020204" pitchFamily="34" charset="0"/>
              </a:rPr>
              <a:t>.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7500"/>
    </mc:Choice>
    <mc:Fallback xmlns="">
      <p:transition spd="slow" advTm="3750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30350" y="60292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System Architecture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35408" y="1243200"/>
            <a:ext cx="4114800" cy="384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167328" y="1243200"/>
            <a:ext cx="320040" cy="384048"/>
          </a:xfrm>
          <a:prstGeom prst="rect">
            <a:avLst/>
          </a:prstGeom>
          <a:solidFill>
            <a:srgbClr val="1B3A8A"/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326848" y="1279776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Data Input / Source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26848" y="170040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Lato" panose="020F0502020204030203" pitchFamily="34" charset="0"/>
                <a:cs typeface="Arial" panose="020B0604020202020204" pitchFamily="34" charset="0"/>
              </a:rPr>
              <a:t>Global Superstore dataset(CSV/Excel from Kaggle/Edunet) .</a:t>
            </a:r>
          </a:p>
        </p:txBody>
      </p:sp>
      <p:sp>
        <p:nvSpPr>
          <p:cNvPr id="10" name="Shape 8"/>
          <p:cNvSpPr/>
          <p:nvPr/>
        </p:nvSpPr>
        <p:spPr>
          <a:xfrm>
            <a:off x="4670248" y="1243200"/>
            <a:ext cx="4114800" cy="384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IN" sz="160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8602168" y="1243200"/>
            <a:ext cx="320040" cy="384048"/>
          </a:xfrm>
          <a:prstGeom prst="rect">
            <a:avLst/>
          </a:prstGeom>
          <a:solidFill>
            <a:srgbClr val="1B3A8A"/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761688" y="1279776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Processing / Analysis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761688" y="170040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235408" y="2969856"/>
            <a:ext cx="4114800" cy="384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167328" y="2969856"/>
            <a:ext cx="320040" cy="384048"/>
          </a:xfrm>
          <a:prstGeom prst="rect">
            <a:avLst/>
          </a:prstGeom>
          <a:solidFill>
            <a:srgbClr val="1B3A8A"/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26848" y="3006432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AI / Tool Integration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26848" y="3427056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Lato" panose="020F0502020204030203" pitchFamily="34" charset="0"/>
                <a:cs typeface="Arial" panose="020B0604020202020204" pitchFamily="34" charset="0"/>
              </a:rPr>
              <a:t>Excel for data cleaning , Power BI for Dashboard creation , copilot for summaries.</a:t>
            </a:r>
          </a:p>
        </p:txBody>
      </p:sp>
      <p:sp>
        <p:nvSpPr>
          <p:cNvPr id="18" name="Shape 16"/>
          <p:cNvSpPr/>
          <p:nvPr/>
        </p:nvSpPr>
        <p:spPr>
          <a:xfrm>
            <a:off x="4670248" y="2969856"/>
            <a:ext cx="4114800" cy="384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8602168" y="2969856"/>
            <a:ext cx="320040" cy="384048"/>
          </a:xfrm>
          <a:prstGeom prst="rect">
            <a:avLst/>
          </a:prstGeom>
          <a:solidFill>
            <a:srgbClr val="1B3A8A"/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761688" y="3006432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Output / Dashboard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761688" y="3427056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Lato" panose="020F0502020204030203" pitchFamily="34" charset="0"/>
                <a:cs typeface="Arial" panose="020B0604020202020204" pitchFamily="34" charset="0"/>
              </a:rPr>
              <a:t>Visual dashboard including KPI cards, Bar charts, Pie charts ,Trend lines showing sales, profit, categories and monthly trends.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D066DAD-F09C-B2BC-356A-2FA5A874295A}"/>
              </a:ext>
            </a:extLst>
          </p:cNvPr>
          <p:cNvSpPr txBox="1"/>
          <p:nvPr/>
        </p:nvSpPr>
        <p:spPr>
          <a:xfrm>
            <a:off x="4754880" y="1700400"/>
            <a:ext cx="41148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Cleaning(remove duplicates, fix formats), Excel formulas, power Query. KPI calculations (Sales, Profit, Orders)Trend analysis ,Category &amp; region comparison.</a:t>
            </a:r>
            <a:endParaRPr lang="en-IN" sz="160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7228"/>
    </mc:Choice>
    <mc:Fallback xmlns="">
      <p:transition spd="slow" advTm="47228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20623" y="60729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Live Demo of Project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5487" y="1105839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Here's the list of some demo screenshots / features of the project:</a:t>
            </a:r>
            <a:endParaRPr lang="en-US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978408" y="1648237"/>
            <a:ext cx="1371600" cy="1371600"/>
          </a:xfrm>
          <a:prstGeom prst="ellipse">
            <a:avLst/>
          </a:prstGeom>
          <a:solidFill>
            <a:srgbClr val="1565C0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74320" y="2196877"/>
            <a:ext cx="2788920" cy="26517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74320" y="2413802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Git hub Repo 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11480" y="2919838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dirty="0">
                <a:latin typeface="Lato" panose="020F0502020204030203" pitchFamily="34" charset="0"/>
                <a:cs typeface="Arial" panose="020B0604020202020204" pitchFamily="34" charset="0"/>
                <a:hlinkClick r:id="rId4"/>
              </a:rPr>
              <a:t>https://github.com/harikakanapuram2006-web/my-project.git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  <a:p>
            <a:pPr algn="ctr"/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  <a:p>
            <a:pPr algn="ctr"/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922776" y="1648237"/>
            <a:ext cx="1371600" cy="1371600"/>
          </a:xfrm>
          <a:prstGeom prst="ellipse">
            <a:avLst/>
          </a:prstGeom>
          <a:solidFill>
            <a:srgbClr val="FFC000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241548" y="2201271"/>
            <a:ext cx="2788920" cy="2651760"/>
          </a:xfrm>
          <a:prstGeom prst="rect">
            <a:avLst/>
          </a:prstGeom>
          <a:solidFill>
            <a:srgbClr val="FDF3ED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218688" y="2413802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Video Presentation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355848" y="2919838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dirty="0">
                <a:latin typeface="Lato" panose="020F0502020204030203" pitchFamily="34" charset="0"/>
                <a:cs typeface="Arial" panose="020B0604020202020204" pitchFamily="34" charset="0"/>
                <a:hlinkClick r:id="rId5"/>
              </a:rPr>
              <a:t>https://drive.google.com/file/d/1hUMp1dkWJFgfmguXwI4L3ZDjptA9zXfP/view?usp=drivesdk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  <a:p>
            <a:pPr algn="ctr"/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867144" y="1648237"/>
            <a:ext cx="1371600" cy="1371600"/>
          </a:xfrm>
          <a:prstGeom prst="ellipse">
            <a:avLst/>
          </a:prstGeom>
          <a:solidFill>
            <a:srgbClr val="1565C0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867144" y="1648237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3600" dirty="0">
              <a:latin typeface="Lato" panose="020F0502020204030203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163056" y="2200479"/>
            <a:ext cx="2788920" cy="26517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 dirty="0">
              <a:latin typeface="Lato" panose="020F0502020204030203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163056" y="2413802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Dashboard Link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300216" y="2919838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IN" b="1" dirty="0"/>
              <a:t> </a:t>
            </a:r>
            <a:r>
              <a:rPr lang="en-IN" b="1" u="sng" dirty="0">
                <a:hlinkClick r:id="rId6"/>
              </a:rPr>
              <a:t>https://harikakanapuram2006-web.github.io/my-project/</a:t>
            </a:r>
            <a:endParaRPr lang="en-IN" b="1" u="sng" dirty="0"/>
          </a:p>
          <a:p>
            <a:pPr algn="ctr"/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30351" y="612064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Conclusion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25486" y="1084927"/>
            <a:ext cx="5691505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br>
              <a:rPr lang="en-US" sz="1600" dirty="0">
                <a:latin typeface="Lato" panose="020F0502020204030203" pitchFamily="34" charset="0"/>
                <a:cs typeface="Arial" panose="020B0604020202020204" pitchFamily="34" charset="0"/>
              </a:rPr>
            </a:br>
            <a:br>
              <a:rPr lang="en-US" sz="1600" dirty="0">
                <a:latin typeface="Lato" panose="020F0502020204030203" pitchFamily="34" charset="0"/>
                <a:cs typeface="Arial" panose="020B0604020202020204" pitchFamily="34" charset="0"/>
              </a:rPr>
            </a:br>
            <a:r>
              <a:rPr lang="en-US" sz="1600" dirty="0">
                <a:latin typeface="Lato" panose="020F0502020204030203" pitchFamily="34" charset="0"/>
                <a:cs typeface="Arial" panose="020B0604020202020204" pitchFamily="34" charset="0"/>
              </a:rPr>
              <a:t>This project successfully transformed raw sales data into meaningful insights through data cleaning, analysis, and visualization. The interactive dashboards helped identify key trends, top-performing products, and loss-making areas, enabling better decision-making. Overall, the project demonstrates how data-driven strategies can improve business performance, profitability, and operational efficiency</a:t>
            </a:r>
            <a:r>
              <a:rPr lang="en-US" dirty="0">
                <a:latin typeface="Lato" panose="020F0502020204030203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19" name="Text 17"/>
          <p:cNvSpPr/>
          <p:nvPr/>
        </p:nvSpPr>
        <p:spPr>
          <a:xfrm>
            <a:off x="5303520" y="347472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200" dirty="0">
                <a:solidFill>
                  <a:srgbClr val="FFFFFF"/>
                </a:solidFill>
                <a:latin typeface="Lato" panose="020F0502020204030203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600" dirty="0">
              <a:latin typeface="Lato" panose="020F0502020204030203" pitchFamily="34" charset="0"/>
            </a:endParaRPr>
          </a:p>
        </p:txBody>
      </p:sp>
      <p:pic>
        <p:nvPicPr>
          <p:cNvPr id="20" name="Picture 19" descr="A blue circle with a pencil and paper with a star on it&#10;&#10;AI-generated content may be incorrect.">
            <a:extLst>
              <a:ext uri="{FF2B5EF4-FFF2-40B4-BE49-F238E27FC236}">
                <a16:creationId xmlns:a16="http://schemas.microsoft.com/office/drawing/2014/main" id="{BAE68F53-65EE-1751-E92D-7025D978B68E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25397" t="26296" r="26825" b="29752"/>
          <a:stretch>
            <a:fillRect/>
          </a:stretch>
        </p:blipFill>
        <p:spPr>
          <a:xfrm>
            <a:off x="5535636" y="971551"/>
            <a:ext cx="3151163" cy="300609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3081"/>
    </mc:Choice>
    <mc:Fallback xmlns="">
      <p:transition spd="slow" advTm="3308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23247" y="613561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Future Scope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23247" y="1082104"/>
            <a:ext cx="4114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2449DB-BF51-DAAE-EA83-F4C0089676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0698" y="1052473"/>
            <a:ext cx="3960055" cy="338427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E5F2462-737B-25A0-CE9F-21C9EC265BEB}"/>
              </a:ext>
            </a:extLst>
          </p:cNvPr>
          <p:cNvSpPr txBox="1"/>
          <p:nvPr/>
        </p:nvSpPr>
        <p:spPr>
          <a:xfrm>
            <a:off x="246186" y="1364566"/>
            <a:ext cx="5282418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Expand dashboards with predictive analytics and forecasting models.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Integrate real-time data streams (APIs) for live updates.</a:t>
            </a:r>
            <a:br>
              <a:rPr lang="en-US" sz="1600" dirty="0"/>
            </a:br>
            <a:r>
              <a:rPr lang="en-US" sz="1600" dirty="0"/>
              <a:t>Build a prompt library for AI-assisted reporting.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Enhance dashboards with advanced drill-down and interactive features.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Explore scalability for enterprise-level datasets.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Research advanced Copilot + Power BI automation workflows.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Enable cloud and mobile accessibility for wider usage</a:t>
            </a:r>
            <a:endParaRPr lang="en-IN" sz="160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1998"/>
    </mc:Choice>
    <mc:Fallback xmlns="">
      <p:transition spd="slow" advTm="31998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914400" y="30175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kern="0" spc="200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AICW Fellowship  |  Student Project Presentation 2026</a:t>
            </a:r>
            <a:endParaRPr lang="en-US" sz="14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914400" y="3566160"/>
            <a:ext cx="731520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100" dirty="0">
                <a:latin typeface="Lato" panose="020F0502020204030203" pitchFamily="34" charset="0"/>
                <a:ea typeface="Calibri"/>
                <a:cs typeface="Arial" panose="020B0604020202020204" pitchFamily="34" charset="0"/>
              </a:rPr>
              <a:t>  LinkedIn  |   Edunet Foundation</a:t>
            </a:r>
            <a:endParaRPr lang="en-US" sz="11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id="{F7A740B1-0782-B37E-5F62-503024E32BC9}"/>
              </a:ext>
            </a:extLst>
          </p:cNvPr>
          <p:cNvSpPr txBox="1"/>
          <p:nvPr/>
        </p:nvSpPr>
        <p:spPr>
          <a:xfrm>
            <a:off x="2632982" y="1705295"/>
            <a:ext cx="3878036" cy="11750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686"/>
              </a:lnSpc>
            </a:pPr>
            <a:r>
              <a:rPr lang="en-US" sz="5000" b="1" dirty="0">
                <a:solidFill>
                  <a:srgbClr val="0D358D"/>
                </a:solidFill>
                <a:latin typeface="Lato" panose="020F0502020204030203" pitchFamily="34" charset="0"/>
                <a:ea typeface="Aileron Ultra-Bold"/>
                <a:cs typeface="Arial" panose="020B0604020202020204" pitchFamily="34" charset="0"/>
                <a:sym typeface="Aileron Ultra-Bold"/>
              </a:rPr>
              <a:t>Thank You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346"/>
    </mc:Choice>
    <mc:Fallback xmlns="">
      <p:transition spd="slow" advTm="6346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DESIGN_ID_OFFICE THEME" val="ROGxgyxs"/>
  <p:tag name="ARTICULATE_PROJECT_OPEN" val="0"/>
  <p:tag name="ARTICULATE_SLIDE_COUNT" val="1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523</TotalTime>
  <Words>561</Words>
  <Application>Microsoft Office PowerPoint</Application>
  <PresentationFormat>On-screen Show (16:9)</PresentationFormat>
  <Paragraphs>74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Lato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AICW Student Project Presentation Template 2026</dc:title>
  <dc:subject>PptxGenJS Presentation</dc:subject>
  <dc:creator>PptxGenJS</dc:creator>
  <cp:lastModifiedBy>pasham sreelatha</cp:lastModifiedBy>
  <cp:revision>29</cp:revision>
  <dcterms:created xsi:type="dcterms:W3CDTF">2026-02-18T09:17:23Z</dcterms:created>
  <dcterms:modified xsi:type="dcterms:W3CDTF">2026-04-15T13:53:07Z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1F7F540C-1CAD-4091-84DE-558331FD12BA</vt:lpwstr>
  </property>
  <property fmtid="{D5CDD505-2E9C-101B-9397-08002B2CF9AE}" pid="3" name="ArticulatePath">
    <vt:lpwstr>https://edunetfoundationorg-my.sharepoint.com/personal/kaisar_edunetfoundation_org/Documents/Task/AICW/Student project/AI Fellowship Project Template2026 (1)</vt:lpwstr>
  </property>
</Properties>
</file>